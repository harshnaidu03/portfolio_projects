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7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1176-DC1F-30B5-4485-9153ED5882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273E9-A5C4-FDC0-4C6D-B28627BCE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26610-C332-354B-FDED-32372D6D2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2763-E328-4957-BBFD-667FD604C88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4F087-6A9D-E0FC-4EEB-BDB8E4A98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E15CD-46C1-DACD-C30B-7EC3F46D3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84258-0112-4CA9-9DB1-AD5569DBE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067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AFA15-8D7C-1F4E-D167-1A0454E22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0167B-3163-DC8D-9BA0-5FB888423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C1113-E6B1-A7C4-4EDC-EDEA29CE6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2763-E328-4957-BBFD-667FD604C88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C63F0-EBCE-7094-B829-CF76BB2C9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A1F36-E0DF-48E5-06AD-37728061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84258-0112-4CA9-9DB1-AD5569DBE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833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86752-8A36-A1CE-B99A-32BEF7A4B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622AA-4078-DEFB-3118-57753E679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68060-599F-BD28-FCFB-705C214CA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2763-E328-4957-BBFD-667FD604C88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2ED76-04AD-7554-E602-4E591DD4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7838B-2162-3C57-D305-5F06B8194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84258-0112-4CA9-9DB1-AD5569DBE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41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93F63-4CA5-62F8-CE47-DC83D0E50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7646E-82CB-0063-8D1F-BC1668A38E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BBD39-6BCA-5012-2059-CC186F9E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5F217-005B-3C8A-4B57-0444FB600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2763-E328-4957-BBFD-667FD604C88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98891-EB1C-423C-11AC-BF41D974E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13B61-7330-8EE5-ADFA-5AF47873F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84258-0112-4CA9-9DB1-AD5569DBE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32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EE57-DD01-533F-BAB7-BE0484833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84FDC-6660-DE6E-3114-D50746F64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FFCE7-C269-3BF9-A9C3-9D1B612D9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8DBA1-402F-F31B-F620-79AC8ECCBE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40B6C-9DA8-670F-9AC3-8BDE09AF2A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C0FA66-B68C-0E86-191A-F5AE0353F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2763-E328-4957-BBFD-667FD604C88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EE9AB0-721B-F302-DA41-F11EBE1E7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77BCE7-A5D4-03C4-F05F-0982C81A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84258-0112-4CA9-9DB1-AD5569DBE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209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91BAC-AB76-6E8A-8D5B-C3E48ADC8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01365-1C3D-A67A-2B9D-C1893F832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2763-E328-4957-BBFD-667FD604C88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2866C-D263-ACEC-82AB-D755BB1D5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01221-50C6-DA95-0B8A-F094BC623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84258-0112-4CA9-9DB1-AD5569DBE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510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19F1E7-1CC4-484B-DF07-07E3A445A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2763-E328-4957-BBFD-667FD604C88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066CDD-B95C-C637-A159-A351AB901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EC99D-F391-9E64-A6BA-FA62D771B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84258-0112-4CA9-9DB1-AD5569DBE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778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0A26B-78FE-EF7C-E912-2D773F21D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CD3BB-F658-C94B-FFDE-B82105745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0603D8-D4A5-689C-B670-96D45567C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15469-2222-DDDC-C6ED-ACED7FC2D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2763-E328-4957-BBFD-667FD604C88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C6540-D344-17DF-A8EE-DCB713D06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65389-53C7-7F83-C35C-F22D6ACAF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84258-0112-4CA9-9DB1-AD5569DBE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957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254BB-5505-9B92-A70C-FC614C0F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C6F66-AF15-FC6E-DCD4-500898EC2F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D6004-76E2-2ADD-B1E6-9C222F8A3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DE985-99D5-6D1C-8903-DA300BD48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2763-E328-4957-BBFD-667FD604C88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A98EE-18CF-3208-02CF-09575B221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35BBF-7EA7-B695-E08F-4A86D3E91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84258-0112-4CA9-9DB1-AD5569DBE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70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045B-6D6C-711B-E9C1-5156BA501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72475-864A-8FFA-ABE4-3EB0B558E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1A2F2-FD31-639A-A8E4-188A72567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2763-E328-4957-BBFD-667FD604C88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FE10B-4459-01B2-66C4-CF2DA43D8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E5CF5-068C-2569-4C4F-12704567D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84258-0112-4CA9-9DB1-AD5569DBE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13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43143B-9AB7-9C78-DBD2-4F19D7EBD6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752BC-AD1B-E4E0-7718-16869415A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B2AE0-1281-8B7B-E2B1-D6C53A509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2763-E328-4957-BBFD-667FD604C88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CA56E-3BAB-6AEE-FA5F-4C4FF4362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D2E61-91AF-A101-3FE0-751C73C74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84258-0112-4CA9-9DB1-AD5569DBE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42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4DBEF5-F295-7D9A-DC51-D5B8E81D7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2E45A-B0F5-8C7D-432A-A11D52A7E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35ECE-39FF-55D9-5D58-39F29BF5C8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62763-E328-4957-BBFD-667FD604C88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60757-ED66-0F80-6110-BE08E875D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14745-7BF6-A587-F333-6FE97E32CB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84258-0112-4CA9-9DB1-AD5569DBE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46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E1A34-94FC-9529-45F1-0FA405779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11508"/>
            <a:ext cx="9144000" cy="996593"/>
          </a:xfrm>
        </p:spPr>
        <p:txBody>
          <a:bodyPr>
            <a:normAutofit fontScale="90000"/>
          </a:bodyPr>
          <a:lstStyle/>
          <a:p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Retailer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99269A-C72B-3A0D-FC1E-9FB4DCDD44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05563"/>
            <a:ext cx="9144000" cy="572784"/>
          </a:xfrm>
        </p:spPr>
        <p:txBody>
          <a:bodyPr/>
          <a:lstStyle/>
          <a:p>
            <a:r>
              <a:rPr lang="en-IN" dirty="0"/>
              <a:t>Created by: Harsh Naidu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B10651-5EB8-43B4-6A57-BBAF02613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449" y="2093149"/>
            <a:ext cx="3823102" cy="91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360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92050-866B-ABE8-EA30-617FEDA53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/>
              <a:t>Dataset Overview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68163-7BE3-D0A4-4B97-98F38A9AA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 dirty="0"/>
              <a:t>Focus:</a:t>
            </a:r>
            <a:r>
              <a:rPr lang="en-US" sz="2200" dirty="0"/>
              <a:t> Beverage sales and operating margins for Coca-Cola products.</a:t>
            </a:r>
          </a:p>
          <a:p>
            <a:r>
              <a:rPr lang="en-US" sz="2200" b="1" dirty="0"/>
              <a:t>Time Period: </a:t>
            </a:r>
            <a:r>
              <a:rPr lang="en-US" sz="2200" dirty="0"/>
              <a:t>January to Dec 2021</a:t>
            </a:r>
          </a:p>
          <a:p>
            <a:r>
              <a:rPr lang="en-US" sz="2200" b="1" dirty="0"/>
              <a:t>Key Metrics:</a:t>
            </a:r>
          </a:p>
          <a:p>
            <a:pPr lvl="1"/>
            <a:r>
              <a:rPr lang="en-US" sz="2200" dirty="0"/>
              <a:t>Price per Unit </a:t>
            </a:r>
          </a:p>
          <a:p>
            <a:pPr lvl="1"/>
            <a:r>
              <a:rPr lang="en-US" sz="2200" dirty="0"/>
              <a:t>Units Sold </a:t>
            </a:r>
          </a:p>
          <a:p>
            <a:pPr lvl="1"/>
            <a:r>
              <a:rPr lang="en-US" sz="2200" dirty="0"/>
              <a:t>Total Sales </a:t>
            </a:r>
          </a:p>
          <a:p>
            <a:pPr lvl="1"/>
            <a:r>
              <a:rPr lang="en-US" sz="2200" dirty="0"/>
              <a:t>Operating Profit &amp; Margin</a:t>
            </a:r>
          </a:p>
          <a:p>
            <a:r>
              <a:rPr lang="en-US" sz="2200" b="1" dirty="0"/>
              <a:t>Purpose: </a:t>
            </a:r>
            <a:r>
              <a:rPr lang="en-US" sz="2200" dirty="0"/>
              <a:t>Analyze beverage performance, profitability, and margin trends across brands and periods.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101409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A6836E-C603-43CB-9DA7-89D8E3FA3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6007DD-F9BF-4F0F-B8C6-C514B2841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D80187-72A1-9283-8B34-F1DB37ED2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925" y="1321056"/>
            <a:ext cx="10684151" cy="19919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Tools Used: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4186B-6C4B-CB34-79A7-E56804DEF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1395" y="3525490"/>
            <a:ext cx="9469211" cy="8656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Microsoft Excel (Pivot Table)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A0FAFCA-5C96-453B-83B7-A9AEF7F18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0F84AE-A24D-4353-B1BA-BD80DAA38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093259-3E74-43A1-944B-B106C8105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AA28A35-1E54-4054-BB95-42FAFA13A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BA3A17F-F3BD-4B94-9CC8-006700210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D0398DD-AD75-4E2B-A3C6-35073082A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5" y="3658536"/>
            <a:ext cx="3655725" cy="2743201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E4F247-A844-4CD1-A37E-B7EA0DA2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2387B1B-D4D3-493F-8D7A-C7A89DBD4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3404477-1F13-4859-84DA-12A303AC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B8C62FD-B708-4F00-80BB-1250C6011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36874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1CC4C8-E77B-7CDF-867E-71418B011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Steps for Analysis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7E5AB-07FF-19ED-62C1-6B5881575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fontScale="92500" lnSpcReduction="10000"/>
          </a:bodyPr>
          <a:lstStyle/>
          <a:p>
            <a:pPr marL="0" indent="0" algn="just">
              <a:buNone/>
            </a:pPr>
            <a:endParaRPr lang="en-US" sz="2400" dirty="0"/>
          </a:p>
          <a:p>
            <a:pPr algn="just"/>
            <a:r>
              <a:rPr lang="en-US" sz="2400" dirty="0"/>
              <a:t>Imported a single clean dataset; no data modeling required.</a:t>
            </a:r>
          </a:p>
          <a:p>
            <a:pPr algn="just"/>
            <a:r>
              <a:rPr lang="en-US" sz="2400" dirty="0"/>
              <a:t>Verified data consistency and used existing fields for analysis.</a:t>
            </a:r>
          </a:p>
          <a:p>
            <a:pPr algn="just"/>
            <a:r>
              <a:rPr lang="en-US" sz="2400" dirty="0"/>
              <a:t>Created KPIs for Total Sales, Units Sold, Operating Profit &amp; Margin.</a:t>
            </a:r>
          </a:p>
          <a:p>
            <a:pPr algn="just"/>
            <a:r>
              <a:rPr lang="en-US" sz="2400" b="1" dirty="0"/>
              <a:t>Built visuals:</a:t>
            </a:r>
          </a:p>
          <a:p>
            <a:pPr lvl="1" algn="just"/>
            <a:r>
              <a:rPr lang="en-US" dirty="0"/>
              <a:t>Line chart – Sales by Month</a:t>
            </a:r>
          </a:p>
          <a:p>
            <a:pPr lvl="1" algn="just"/>
            <a:r>
              <a:rPr lang="en-US" dirty="0"/>
              <a:t>Map – Sales by State</a:t>
            </a:r>
          </a:p>
          <a:p>
            <a:pPr lvl="1" algn="just"/>
            <a:r>
              <a:rPr lang="en-US" dirty="0"/>
              <a:t>Bar chart – Units Sold by Brand</a:t>
            </a:r>
          </a:p>
          <a:p>
            <a:pPr lvl="1" algn="just"/>
            <a:r>
              <a:rPr lang="en-US" dirty="0"/>
              <a:t>Pie chart – Profit by Retailer</a:t>
            </a:r>
          </a:p>
          <a:p>
            <a:pPr lvl="1" algn="just"/>
            <a:r>
              <a:rPr lang="en-US" dirty="0"/>
              <a:t>Added slicers for easy filtering by Retailer, Region, and Brand.</a:t>
            </a:r>
          </a:p>
          <a:p>
            <a:pPr algn="just"/>
            <a:r>
              <a:rPr lang="en-US" sz="2400" dirty="0"/>
              <a:t>Derived key insights on top-performing brands, regions, and retailers.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82474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22C965-E1B5-4A66-6399-F48672135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Findings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2281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4647A-DDDF-62A5-A8FC-38A282A7E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1141712"/>
            <a:ext cx="10581861" cy="11295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company achieved total sales of $86.8 million with 171 million units sold, generating an operating profit of $31.7 million and a strong profit margin of 36.3%.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BA24A4-601A-B194-FEE5-6250F41E23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5139" y="3369422"/>
            <a:ext cx="10478721" cy="1409694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9469B9-6468-5B6A-E832-8D4590388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897" y="5231580"/>
            <a:ext cx="10459156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314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4AB065-9AB7-4075-AAA1-7DB989F90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3600" dirty="0"/>
              <a:t>Which months recorded the highest and lowest beverage sales in 2021?</a:t>
            </a:r>
            <a:endParaRPr lang="en-IN" sz="3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860A8-D872-405B-4CB8-325656E06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algn="just"/>
            <a:r>
              <a:rPr lang="en-US" sz="2000" dirty="0"/>
              <a:t>Sales peaked in </a:t>
            </a:r>
            <a:r>
              <a:rPr lang="en-US" sz="2000" b="1" dirty="0"/>
              <a:t>July</a:t>
            </a:r>
            <a:r>
              <a:rPr lang="en-US" sz="2000" dirty="0"/>
              <a:t> and </a:t>
            </a:r>
            <a:r>
              <a:rPr lang="en-US" sz="2000" b="1" dirty="0"/>
              <a:t>December</a:t>
            </a:r>
            <a:r>
              <a:rPr lang="en-US" sz="2000" dirty="0"/>
              <a:t>, while the lowest sales occurred around </a:t>
            </a:r>
            <a:r>
              <a:rPr lang="en-US" sz="2000" b="1" dirty="0"/>
              <a:t>March–April</a:t>
            </a:r>
            <a:r>
              <a:rPr lang="en-US" sz="20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9B0F71-4851-9610-35F1-A9E1400DF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667537"/>
            <a:ext cx="5150277" cy="334768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00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DE8C9-C475-51DB-3CFA-EFB706D7B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F956AB-5BEE-0F13-1F3C-A28B8ADB8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3600" dirty="0"/>
              <a:t>Which states recorded the highest beverage sales across the U.S.?</a:t>
            </a:r>
            <a:endParaRPr lang="en-IN" sz="3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2CD95-3683-F6B5-9F7C-B2BD0854D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451970"/>
          </a:xfrm>
        </p:spPr>
        <p:txBody>
          <a:bodyPr anchor="ctr">
            <a:normAutofit/>
          </a:bodyPr>
          <a:lstStyle/>
          <a:p>
            <a:pPr algn="just"/>
            <a:r>
              <a:rPr lang="en-US" sz="2000" dirty="0"/>
              <a:t>Texas, California, Florida, and New York achieved the highest sales, indicating strong regional performance in these states.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00C786-D960-C438-72E0-8B061F7BB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539" y="2484255"/>
            <a:ext cx="5036263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78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986609-9BB9-C287-9909-438069750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341746-622B-859C-5973-740F68829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3600" dirty="0"/>
              <a:t>Which retailer contributed the most to total operating profit?</a:t>
            </a:r>
            <a:endParaRPr lang="en-IN" sz="3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8105-20AA-659F-F532-23B19DC8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390325"/>
          </a:xfrm>
        </p:spPr>
        <p:txBody>
          <a:bodyPr anchor="ctr">
            <a:normAutofit/>
          </a:bodyPr>
          <a:lstStyle/>
          <a:p>
            <a:pPr algn="just"/>
            <a:r>
              <a:rPr lang="en-US" sz="2000" dirty="0"/>
              <a:t>Sodapop dominated with </a:t>
            </a:r>
            <a:r>
              <a:rPr lang="en-US" sz="2000" b="1" dirty="0"/>
              <a:t>52%</a:t>
            </a:r>
            <a:r>
              <a:rPr lang="en-US" sz="2000" dirty="0"/>
              <a:t> of total profit, followed by </a:t>
            </a:r>
            <a:r>
              <a:rPr lang="en-US" sz="2000" dirty="0" err="1"/>
              <a:t>FizzySip</a:t>
            </a:r>
            <a:r>
              <a:rPr lang="en-US" sz="2000" dirty="0"/>
              <a:t> at </a:t>
            </a:r>
            <a:r>
              <a:rPr lang="en-US" sz="2000" b="1" dirty="0"/>
              <a:t>26%</a:t>
            </a:r>
            <a:r>
              <a:rPr lang="en-US" sz="2000" dirty="0"/>
              <a:t>, showing Sodapop’s major impact on profitability.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9FE15E-9A5D-946E-D338-91F7178EC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3092435"/>
            <a:ext cx="5150277" cy="249788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1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9512A4-D3BC-A68C-C6FF-31E05F052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41E65A-C041-D2C2-914C-3FE295036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3600" dirty="0"/>
              <a:t>Which beverage brand achieved the highest sales volume?</a:t>
            </a:r>
            <a:endParaRPr lang="en-IN" sz="3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482AF-3172-4960-0CC7-212BF35DD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algn="just"/>
            <a:r>
              <a:rPr lang="en-US" sz="2000" b="1" dirty="0"/>
              <a:t>Coca-Cola</a:t>
            </a:r>
            <a:r>
              <a:rPr lang="en-US" sz="2000" dirty="0"/>
              <a:t> led with over </a:t>
            </a:r>
            <a:r>
              <a:rPr lang="en-US" sz="2000" b="1" dirty="0"/>
              <a:t>4.1 million units sold</a:t>
            </a:r>
            <a:r>
              <a:rPr lang="en-US" sz="2000" dirty="0"/>
              <a:t>, outperforming other brands like Diet Coke and Dasani Water.</a:t>
            </a:r>
            <a:endParaRPr lang="en-IN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09985B-92F5-C446-E88F-7D6C496BA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3292008"/>
            <a:ext cx="5150277" cy="209873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426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906702-D05D-0A6A-9F17-EDA0FD3B9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402" y="1198418"/>
            <a:ext cx="3791163" cy="44611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FFFF"/>
                </a:solidFill>
              </a:rPr>
              <a:t>Recommendations: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89150-1AA8-2CC1-4C2E-5BA7870D4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algn="just"/>
            <a:r>
              <a:rPr lang="en-US" sz="2400" dirty="0"/>
              <a:t>Boost marketing in top states – Texas, California, New York.</a:t>
            </a:r>
          </a:p>
          <a:p>
            <a:pPr algn="just"/>
            <a:r>
              <a:rPr lang="en-US" sz="2400" dirty="0"/>
              <a:t>Analyze low-sales regions for improvement opportunities.</a:t>
            </a:r>
          </a:p>
          <a:p>
            <a:pPr algn="just"/>
            <a:r>
              <a:rPr lang="en-US" sz="2400" dirty="0"/>
              <a:t>Strengthen partnership with Sodapop; uplift other retailers.</a:t>
            </a:r>
          </a:p>
          <a:p>
            <a:pPr algn="just"/>
            <a:r>
              <a:rPr lang="en-US" sz="2400" dirty="0"/>
              <a:t>Promote Coca-Cola and Diet Coke through targeted campaigns.</a:t>
            </a:r>
          </a:p>
          <a:p>
            <a:pPr algn="just"/>
            <a:r>
              <a:rPr lang="en-US" sz="2400" dirty="0"/>
              <a:t>Launch seasonal offers in June–July and December.</a:t>
            </a:r>
          </a:p>
          <a:p>
            <a:pPr algn="just"/>
            <a:r>
              <a:rPr lang="en-US" sz="2400" dirty="0"/>
              <a:t>Improve sales of Fanta and Powerade with new product strategies.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45637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9AE7DF-B194-3834-75B1-D7A273AF0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673" y="419193"/>
            <a:ext cx="9406425" cy="5926048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624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BB7EB-1247-98A2-C5CE-5F5395F09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6195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378</Words>
  <Application>Microsoft Office PowerPoint</Application>
  <PresentationFormat>Widescreen</PresentationFormat>
  <Paragraphs>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  Retailer Sales Analysis</vt:lpstr>
      <vt:lpstr>Dataset Overview</vt:lpstr>
      <vt:lpstr>Tools Used:</vt:lpstr>
      <vt:lpstr>Steps for Analysis</vt:lpstr>
      <vt:lpstr>Findings</vt:lpstr>
      <vt:lpstr>The company achieved total sales of $86.8 million with 171 million units sold, generating an operating profit of $31.7 million and a strong profit margin of 36.3%.</vt:lpstr>
      <vt:lpstr>Which months recorded the highest and lowest beverage sales in 2021?</vt:lpstr>
      <vt:lpstr>Which states recorded the highest beverage sales across the U.S.?</vt:lpstr>
      <vt:lpstr>Which retailer contributed the most to total operating profit?</vt:lpstr>
      <vt:lpstr>Which beverage brand achieved the highest sales volume?</vt:lpstr>
      <vt:lpstr>Recommendations: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Naidu</dc:creator>
  <cp:lastModifiedBy>Harsh Naidu</cp:lastModifiedBy>
  <cp:revision>18</cp:revision>
  <dcterms:created xsi:type="dcterms:W3CDTF">2025-11-13T06:06:20Z</dcterms:created>
  <dcterms:modified xsi:type="dcterms:W3CDTF">2025-11-13T16:01:56Z</dcterms:modified>
</cp:coreProperties>
</file>